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2"/>
    <p:sldId id="257" r:id="rId3"/>
    <p:sldId id="276" r:id="rId4"/>
    <p:sldId id="278" r:id="rId5"/>
    <p:sldId id="277" r:id="rId6"/>
    <p:sldId id="279" r:id="rId7"/>
    <p:sldId id="280" r:id="rId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gdpnfpxnrtSH9NB3VtyX0v+pUF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2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33" Type="http://schemas.openxmlformats.org/officeDocument/2006/relationships/tableStyles" Target="tableStyles.xml"/><Relationship Id="rId2" Type="http://schemas.openxmlformats.org/officeDocument/2006/relationships/slide" Target="slides/slide1.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32" Type="http://schemas.openxmlformats.org/officeDocument/2006/relationships/theme" Target="theme/theme1.xml"/><Relationship Id="rId5" Type="http://schemas.openxmlformats.org/officeDocument/2006/relationships/slide" Target="slides/slide4.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c9f61e946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c9f61e946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g2c9f61e946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cbc16d843f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cbc16d843f_1_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g2cbc16d843f_1_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cbc16d843f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cbc16d843f_1_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g2cbc16d843f_1_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extLst>
      <p:ext uri="{BB962C8B-B14F-4D97-AF65-F5344CB8AC3E}">
        <p14:creationId xmlns:p14="http://schemas.microsoft.com/office/powerpoint/2010/main" val="2263454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cbc16d843f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cbc16d843f_1_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g2cbc16d843f_1_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extLst>
      <p:ext uri="{BB962C8B-B14F-4D97-AF65-F5344CB8AC3E}">
        <p14:creationId xmlns:p14="http://schemas.microsoft.com/office/powerpoint/2010/main" val="1298957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cbc16d843f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cbc16d843f_1_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285750" marR="0" lvl="0" indent="-285750" algn="l" defTabSz="914400" rtl="0" eaLnBrk="1" fontAlgn="auto" latinLnBrk="0" hangingPunct="1">
              <a:lnSpc>
                <a:spcPct val="100000"/>
              </a:lnSpc>
              <a:spcBef>
                <a:spcPts val="0"/>
              </a:spcBef>
              <a:spcAft>
                <a:spcPts val="0"/>
              </a:spcAft>
              <a:buClr>
                <a:srgbClr val="000000"/>
              </a:buClr>
              <a:buSzPts val="1400"/>
              <a:buFontTx/>
              <a:buChar char="-"/>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Average IMDb Score and Votes of the movie rated by the users.  Surprisingly, the average score and votes of the movies rated by the users are quite high.</a:t>
            </a:r>
          </a:p>
          <a:p>
            <a:pPr marL="285750" marR="0" lvl="0" indent="-285750" algn="l" defTabSz="914400" rtl="0" eaLnBrk="1" fontAlgn="auto" latinLnBrk="0" hangingPunct="1">
              <a:lnSpc>
                <a:spcPct val="100000"/>
              </a:lnSpc>
              <a:spcBef>
                <a:spcPts val="0"/>
              </a:spcBef>
              <a:spcAft>
                <a:spcPts val="0"/>
              </a:spcAft>
              <a:buClr>
                <a:srgbClr val="000000"/>
              </a:buClr>
              <a:buSzPts val="1400"/>
              <a:buFontTx/>
              <a:buChar char="-"/>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Histogram showing the frequency distribution of the IMDb Score.  The score shows that the IMDb score is not uniformly distributed and not balanced.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Pts val="1400"/>
              <a:buFontTx/>
              <a:buChar char="-"/>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Histogram showing the frequency distribution of the IMDb Votes.  The score shows that the IMDb votes are not uniformly distributed and not balanced.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Pts val="1400"/>
              <a:buFontTx/>
              <a:buChar char="-"/>
              <a:tabLst/>
              <a:defRPr/>
            </a:pPr>
            <a:r>
              <a:rPr lang="en-US" sz="1800" dirty="0">
                <a:effectLst/>
                <a:latin typeface="Arial" panose="020B0604020202020204" pitchFamily="34" charset="0"/>
                <a:ea typeface="Calibri" panose="020F0502020204030204" pitchFamily="34" charset="0"/>
              </a:rPr>
              <a:t>Counts of Genre(s) of the films.  The drama and comedy are the highest in all the categories. </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Pts val="1400"/>
              <a:buFontTx/>
              <a:buChar char="-"/>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Counts of language(s) of the film.  As usual, English movies stand out to be the highest of all the categories.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Pts val="1400"/>
              <a:buFontTx/>
              <a:buChar char="-"/>
              <a:tabLst/>
              <a:defRPr/>
            </a:pP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Pts val="1400"/>
              <a:buFontTx/>
              <a:buChar char="-"/>
              <a:tabLst/>
              <a:defRPr/>
            </a:pP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Calibri" panose="020F0502020204030204" pitchFamily="34" charset="0"/>
              <a:buChar char="-"/>
            </a:pPr>
            <a:r>
              <a:rPr lang="en-US" sz="1800" dirty="0">
                <a:effectLst/>
                <a:latin typeface="Arial" panose="020B0604020202020204" pitchFamily="34" charset="0"/>
                <a:ea typeface="Calibri" panose="020F0502020204030204" pitchFamily="34" charset="0"/>
                <a:cs typeface="Times New Roman" panose="02020603050405020304" pitchFamily="18" charset="0"/>
              </a:rPr>
              <a:t>Most categories in this labeled dataset were “categorial data”.  The Python module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sklearn.neighbors</a:t>
            </a:r>
            <a:r>
              <a:rPr lang="en-US" sz="1800" dirty="0">
                <a:effectLst/>
                <a:latin typeface="Arial" panose="020B0604020202020204" pitchFamily="34" charset="0"/>
                <a:ea typeface="Calibri" panose="020F0502020204030204" pitchFamily="34" charset="0"/>
                <a:cs typeface="Times New Roman" panose="02020603050405020304" pitchFamily="18" charset="0"/>
              </a:rPr>
              <a:t> does not work on categorial data and hence, as a first step, we had to transform the categorical data into the numeric data using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ColumnTransformer</a:t>
            </a:r>
            <a:r>
              <a:rPr lang="en-US" sz="1800" dirty="0">
                <a:effectLst/>
                <a:latin typeface="Arial" panose="020B0604020202020204" pitchFamily="34" charset="0"/>
                <a:ea typeface="Calibri" panose="020F0502020204030204" pitchFamily="34" charset="0"/>
                <a:cs typeface="Times New Roman" panose="02020603050405020304" pitchFamily="18" charset="0"/>
              </a:rPr>
              <a:t>() method.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Calibri" panose="020F0502020204030204" pitchFamily="34" charset="0"/>
              <a:buChar char="-"/>
            </a:pPr>
            <a:r>
              <a:rPr lang="en-US" sz="1800" dirty="0">
                <a:effectLst/>
                <a:latin typeface="Arial" panose="020B0604020202020204" pitchFamily="34" charset="0"/>
                <a:ea typeface="Calibri" panose="020F0502020204030204" pitchFamily="34" charset="0"/>
                <a:cs typeface="Times New Roman" panose="02020603050405020304" pitchFamily="18" charset="0"/>
              </a:rPr>
              <a:t>Divided the entire dataset into training and testing set into 8:2 ratio.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Calibri" panose="020F0502020204030204" pitchFamily="34" charset="0"/>
              <a:buChar char="-"/>
            </a:pPr>
            <a:r>
              <a:rPr lang="en-US" sz="1800" dirty="0">
                <a:effectLst/>
                <a:latin typeface="Arial" panose="020B0604020202020204" pitchFamily="34" charset="0"/>
                <a:ea typeface="Calibri" panose="020F0502020204030204" pitchFamily="34" charset="0"/>
                <a:cs typeface="Times New Roman" panose="02020603050405020304" pitchFamily="18" charset="0"/>
              </a:rPr>
              <a:t>Created a model using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KNeighborsClassifer</a:t>
            </a:r>
            <a:r>
              <a:rPr lang="en-US" sz="1800" dirty="0">
                <a:effectLst/>
                <a:latin typeface="Arial" panose="020B0604020202020204" pitchFamily="34" charset="0"/>
                <a:ea typeface="Calibri" panose="020F0502020204030204" pitchFamily="34" charset="0"/>
                <a:cs typeface="Times New Roman" panose="02020603050405020304" pitchFamily="18" charset="0"/>
              </a:rPr>
              <a:t>() method.  Range of k from 0 to 10 and all four times of algorithms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kd</a:t>
            </a:r>
            <a:r>
              <a:rPr lang="en-US" sz="1800" dirty="0">
                <a:effectLst/>
                <a:latin typeface="Arial" panose="020B0604020202020204" pitchFamily="34" charset="0"/>
                <a:ea typeface="Calibri" panose="020F0502020204030204" pitchFamily="34" charset="0"/>
                <a:cs typeface="Times New Roman" panose="02020603050405020304" pitchFamily="18" charset="0"/>
              </a:rPr>
              <a:t> tree, ball tree, brute force, auto) have been experimented for performance of the model.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Calibri" panose="020F0502020204030204" pitchFamily="34" charset="0"/>
              <a:buChar char="-"/>
            </a:pPr>
            <a:r>
              <a:rPr lang="en-US" sz="1800" dirty="0">
                <a:effectLst/>
                <a:latin typeface="Arial" panose="020B0604020202020204" pitchFamily="34" charset="0"/>
                <a:ea typeface="Calibri" panose="020F0502020204030204" pitchFamily="34" charset="0"/>
                <a:cs typeface="Times New Roman" panose="02020603050405020304" pitchFamily="18" charset="0"/>
              </a:rPr>
              <a:t>Fit the model using training dataset.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Pts val="1400"/>
              <a:buFontTx/>
              <a:buChar char="-"/>
              <a:tabLst/>
              <a:defRPr/>
            </a:pP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Pts val="1400"/>
              <a:buFontTx/>
              <a:buChar char="-"/>
              <a:tabLst/>
              <a:defRPr/>
            </a:pP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Calibri" panose="020F0502020204030204" pitchFamily="34" charset="0"/>
              <a:buChar char="-"/>
            </a:pPr>
            <a:r>
              <a:rPr lang="en-US" sz="1800" dirty="0">
                <a:effectLst/>
                <a:latin typeface="Arial" panose="020B0604020202020204" pitchFamily="34" charset="0"/>
                <a:ea typeface="Calibri" panose="020F0502020204030204" pitchFamily="34" charset="0"/>
                <a:cs typeface="Times New Roman" panose="02020603050405020304" pitchFamily="18" charset="0"/>
              </a:rPr>
              <a:t>The model was evaluated by introducing different values of k from the range of 0 to 10 and all four types of KNN algorithms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kd</a:t>
            </a:r>
            <a:r>
              <a:rPr lang="en-US" sz="1800" dirty="0">
                <a:effectLst/>
                <a:latin typeface="Arial" panose="020B0604020202020204" pitchFamily="34" charset="0"/>
                <a:ea typeface="Calibri" panose="020F0502020204030204" pitchFamily="34" charset="0"/>
                <a:cs typeface="Times New Roman" panose="02020603050405020304" pitchFamily="18" charset="0"/>
              </a:rPr>
              <a:t> tree, ball tree, brute force, auto).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Arial" panose="020B0604020202020204" pitchFamily="34" charset="0"/>
                <a:ea typeface="Calibri" panose="020F0502020204030204" pitchFamily="34" charset="0"/>
              </a:rPr>
              <a:t>For the testing, a User Interface (UI) was created where two inputs from two different users are allowed to be entered in the form of their preferred movies.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spcBef>
                <a:spcPts val="0"/>
              </a:spcBef>
              <a:spcAft>
                <a:spcPts val="0"/>
              </a:spcAft>
              <a:buNone/>
            </a:pPr>
            <a:endParaRPr dirty="0"/>
          </a:p>
        </p:txBody>
      </p:sp>
      <p:sp>
        <p:nvSpPr>
          <p:cNvPr id="98" name="Google Shape;98;g2cbc16d843f_1_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extLst>
      <p:ext uri="{BB962C8B-B14F-4D97-AF65-F5344CB8AC3E}">
        <p14:creationId xmlns:p14="http://schemas.microsoft.com/office/powerpoint/2010/main" val="45110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cbc16d843f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cbc16d843f_1_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 </a:t>
            </a:r>
            <a:r>
              <a:rPr lang="en-US" sz="1200" dirty="0">
                <a:effectLst/>
                <a:latin typeface="Arial" panose="020B0604020202020204" pitchFamily="34" charset="0"/>
                <a:ea typeface="Calibri" panose="020F0502020204030204" pitchFamily="34" charset="0"/>
                <a:cs typeface="Times New Roman" panose="02020603050405020304" pitchFamily="18" charset="0"/>
              </a:rPr>
              <a:t>This is obvious as k increases, the distance also increases and chances of getting neighbors which have similar density or class are lesser.</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 </a:t>
            </a:r>
            <a:r>
              <a:rPr lang="en-US" sz="1200" dirty="0">
                <a:effectLst/>
                <a:latin typeface="Arial" panose="020B0604020202020204" pitchFamily="34" charset="0"/>
                <a:ea typeface="Calibri" panose="020F0502020204030204" pitchFamily="34" charset="0"/>
                <a:cs typeface="Times New Roman" panose="02020603050405020304" pitchFamily="18" charset="0"/>
              </a:rPr>
              <a:t>but using that value defeats the whole purpose of movie recommendation system as this system would suggest multiple movies to the user so that they have an option to select from.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 </a:t>
            </a:r>
            <a:r>
              <a:rPr lang="en-US" sz="1200" dirty="0">
                <a:effectLst/>
                <a:latin typeface="Arial" panose="020B0604020202020204" pitchFamily="34" charset="0"/>
                <a:ea typeface="Calibri" panose="020F0502020204030204" pitchFamily="34" charset="0"/>
                <a:cs typeface="Times New Roman" panose="02020603050405020304" pitchFamily="18" charset="0"/>
              </a:rPr>
              <a:t>The main reason behind it is because of the categorical data.  When the categorical data is converted to the numerical data, it loses precision, leads to increasing number of independent variables and potential chances of overfitting.</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spcBef>
                <a:spcPts val="0"/>
              </a:spcBef>
              <a:spcAft>
                <a:spcPts val="0"/>
              </a:spcAft>
              <a:buNone/>
            </a:pPr>
            <a:endParaRPr dirty="0"/>
          </a:p>
        </p:txBody>
      </p:sp>
      <p:sp>
        <p:nvSpPr>
          <p:cNvPr id="98" name="Google Shape;98;g2cbc16d843f_1_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extLst>
      <p:ext uri="{BB962C8B-B14F-4D97-AF65-F5344CB8AC3E}">
        <p14:creationId xmlns:p14="http://schemas.microsoft.com/office/powerpoint/2010/main" val="2680784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cbc16d843f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cbc16d843f_1_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342900" marR="0" lvl="0" indent="-342900">
              <a:lnSpc>
                <a:spcPct val="150000"/>
              </a:lnSpc>
              <a:spcBef>
                <a:spcPts val="0"/>
              </a:spcBef>
              <a:spcAft>
                <a:spcPts val="0"/>
              </a:spcAft>
              <a:buFont typeface="Calibri" panose="020F0502020204030204" pitchFamily="34" charset="0"/>
              <a:buChar char="-"/>
            </a:pPr>
            <a:r>
              <a:rPr lang="en-US" sz="1200" dirty="0">
                <a:effectLst/>
                <a:latin typeface="Arial" panose="020B0604020202020204" pitchFamily="34" charset="0"/>
                <a:ea typeface="Calibri" panose="020F0502020204030204" pitchFamily="34" charset="0"/>
                <a:cs typeface="Times New Roman" panose="02020603050405020304" pitchFamily="18" charset="0"/>
              </a:rPr>
              <a:t>Since most of the dataset categories are categorical variables, they are needed to be transformed into a series of numeric variables using an encoding method.  This leads to poor performance of the model and there is no way to improve it.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Calibri" panose="020F0502020204030204" pitchFamily="34" charset="0"/>
              <a:buChar char="-"/>
            </a:pPr>
            <a:r>
              <a:rPr lang="en-US" sz="1200" dirty="0">
                <a:effectLst/>
                <a:latin typeface="Arial" panose="020B0604020202020204" pitchFamily="34" charset="0"/>
                <a:ea typeface="Calibri" panose="020F0502020204030204" pitchFamily="34" charset="0"/>
                <a:cs typeface="Times New Roman" panose="02020603050405020304" pitchFamily="18" charset="0"/>
              </a:rPr>
              <a:t>The dataset that was used has many independent variables and hence, the model became too complex and resource intensive.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spcBef>
                <a:spcPts val="0"/>
              </a:spcBef>
              <a:spcAft>
                <a:spcPts val="0"/>
              </a:spcAft>
              <a:buNone/>
            </a:pPr>
            <a:endParaRPr dirty="0"/>
          </a:p>
        </p:txBody>
      </p:sp>
      <p:sp>
        <p:nvSpPr>
          <p:cNvPr id="98" name="Google Shape;98;g2cbc16d843f_1_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extLst>
      <p:ext uri="{BB962C8B-B14F-4D97-AF65-F5344CB8AC3E}">
        <p14:creationId xmlns:p14="http://schemas.microsoft.com/office/powerpoint/2010/main" val="2361096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4"/>
          <p:cNvSpPr txBox="1">
            <a:spLocks noGrp="1"/>
          </p:cNvSpPr>
          <p:nvPr>
            <p:ph type="dt" idx="10"/>
          </p:nvPr>
        </p:nvSpPr>
        <p:spPr>
          <a:xfrm>
            <a:off x="838200" y="6356354"/>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7" name="Google Shape;17;p24"/>
          <p:cNvSpPr txBox="1">
            <a:spLocks noGrp="1"/>
          </p:cNvSpPr>
          <p:nvPr>
            <p:ph type="ftr" idx="11"/>
          </p:nvPr>
        </p:nvSpPr>
        <p:spPr>
          <a:xfrm>
            <a:off x="4038600" y="6356354"/>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 name="Google Shape;18;p24"/>
          <p:cNvSpPr txBox="1">
            <a:spLocks noGrp="1"/>
          </p:cNvSpPr>
          <p:nvPr>
            <p:ph type="sldNum" idx="12"/>
          </p:nvPr>
        </p:nvSpPr>
        <p:spPr>
          <a:xfrm>
            <a:off x="8610600" y="6356354"/>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Calibri"/>
              <a:buNone/>
              <a:defRPr sz="60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 name="Google Shape;21;p2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22" name="Google Shape;22;p25"/>
          <p:cNvSpPr txBox="1">
            <a:spLocks noGrp="1"/>
          </p:cNvSpPr>
          <p:nvPr>
            <p:ph type="dt" idx="10"/>
          </p:nvPr>
        </p:nvSpPr>
        <p:spPr>
          <a:xfrm>
            <a:off x="838200" y="6356354"/>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3" name="Google Shape;23;p25"/>
          <p:cNvSpPr txBox="1">
            <a:spLocks noGrp="1"/>
          </p:cNvSpPr>
          <p:nvPr>
            <p:ph type="ftr" idx="11"/>
          </p:nvPr>
        </p:nvSpPr>
        <p:spPr>
          <a:xfrm>
            <a:off x="4038600" y="6356354"/>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4" name="Google Shape;24;p25"/>
          <p:cNvSpPr txBox="1">
            <a:spLocks noGrp="1"/>
          </p:cNvSpPr>
          <p:nvPr>
            <p:ph type="sldNum" idx="12"/>
          </p:nvPr>
        </p:nvSpPr>
        <p:spPr>
          <a:xfrm>
            <a:off x="8610600" y="6356354"/>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3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28"/>
          <p:cNvSpPr txBox="1">
            <a:spLocks noGrp="1"/>
          </p:cNvSpPr>
          <p:nvPr>
            <p:ph type="title"/>
          </p:nvPr>
        </p:nvSpPr>
        <p:spPr>
          <a:xfrm>
            <a:off x="831851" y="1709742"/>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Calibri"/>
              <a:buNone/>
              <a:defRPr sz="60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4" name="Google Shape;34;p28"/>
          <p:cNvSpPr txBox="1">
            <a:spLocks noGrp="1"/>
          </p:cNvSpPr>
          <p:nvPr>
            <p:ph type="body" idx="1"/>
          </p:nvPr>
        </p:nvSpPr>
        <p:spPr>
          <a:xfrm>
            <a:off x="831851" y="4589467"/>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5" name="Google Shape;35;p28"/>
          <p:cNvSpPr txBox="1">
            <a:spLocks noGrp="1"/>
          </p:cNvSpPr>
          <p:nvPr>
            <p:ph type="dt" idx="10"/>
          </p:nvPr>
        </p:nvSpPr>
        <p:spPr>
          <a:xfrm>
            <a:off x="838200" y="6356354"/>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6" name="Google Shape;36;p28"/>
          <p:cNvSpPr txBox="1">
            <a:spLocks noGrp="1"/>
          </p:cNvSpPr>
          <p:nvPr>
            <p:ph type="ftr" idx="11"/>
          </p:nvPr>
        </p:nvSpPr>
        <p:spPr>
          <a:xfrm>
            <a:off x="4038600" y="6356354"/>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7" name="Google Shape;37;p28"/>
          <p:cNvSpPr txBox="1">
            <a:spLocks noGrp="1"/>
          </p:cNvSpPr>
          <p:nvPr>
            <p:ph type="sldNum" idx="12"/>
          </p:nvPr>
        </p:nvSpPr>
        <p:spPr>
          <a:xfrm>
            <a:off x="8610600" y="6356354"/>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29"/>
          <p:cNvSpPr txBox="1">
            <a:spLocks noGrp="1"/>
          </p:cNvSpPr>
          <p:nvPr>
            <p:ph type="title"/>
          </p:nvPr>
        </p:nvSpPr>
        <p:spPr>
          <a:xfrm>
            <a:off x="838200" y="365129"/>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0" name="Google Shape;40;p2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1" name="Google Shape;41;p2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2" name="Google Shape;42;p29"/>
          <p:cNvSpPr txBox="1">
            <a:spLocks noGrp="1"/>
          </p:cNvSpPr>
          <p:nvPr>
            <p:ph type="dt" idx="10"/>
          </p:nvPr>
        </p:nvSpPr>
        <p:spPr>
          <a:xfrm>
            <a:off x="838200" y="6356354"/>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3" name="Google Shape;43;p29"/>
          <p:cNvSpPr txBox="1">
            <a:spLocks noGrp="1"/>
          </p:cNvSpPr>
          <p:nvPr>
            <p:ph type="ftr" idx="11"/>
          </p:nvPr>
        </p:nvSpPr>
        <p:spPr>
          <a:xfrm>
            <a:off x="4038600" y="6356354"/>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4" name="Google Shape;44;p29"/>
          <p:cNvSpPr txBox="1">
            <a:spLocks noGrp="1"/>
          </p:cNvSpPr>
          <p:nvPr>
            <p:ph type="sldNum" idx="12"/>
          </p:nvPr>
        </p:nvSpPr>
        <p:spPr>
          <a:xfrm>
            <a:off x="8610600" y="6356354"/>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30"/>
          <p:cNvSpPr txBox="1">
            <a:spLocks noGrp="1"/>
          </p:cNvSpPr>
          <p:nvPr>
            <p:ph type="title"/>
          </p:nvPr>
        </p:nvSpPr>
        <p:spPr>
          <a:xfrm>
            <a:off x="839788" y="365129"/>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7" name="Google Shape;47;p30"/>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48" name="Google Shape;48;p30"/>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9" name="Google Shape;49;p30"/>
          <p:cNvSpPr txBox="1">
            <a:spLocks noGrp="1"/>
          </p:cNvSpPr>
          <p:nvPr>
            <p:ph type="body" idx="3"/>
          </p:nvPr>
        </p:nvSpPr>
        <p:spPr>
          <a:xfrm>
            <a:off x="6172202"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50" name="Google Shape;50;p30"/>
          <p:cNvSpPr txBox="1">
            <a:spLocks noGrp="1"/>
          </p:cNvSpPr>
          <p:nvPr>
            <p:ph type="body" idx="4"/>
          </p:nvPr>
        </p:nvSpPr>
        <p:spPr>
          <a:xfrm>
            <a:off x="6172202"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51" name="Google Shape;51;p30"/>
          <p:cNvSpPr txBox="1">
            <a:spLocks noGrp="1"/>
          </p:cNvSpPr>
          <p:nvPr>
            <p:ph type="dt" idx="10"/>
          </p:nvPr>
        </p:nvSpPr>
        <p:spPr>
          <a:xfrm>
            <a:off x="838200" y="6356354"/>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4038600" y="6356354"/>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8610600" y="6356354"/>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31"/>
          <p:cNvSpPr txBox="1">
            <a:spLocks noGrp="1"/>
          </p:cNvSpPr>
          <p:nvPr>
            <p:ph type="title"/>
          </p:nvPr>
        </p:nvSpPr>
        <p:spPr>
          <a:xfrm>
            <a:off x="838200" y="365129"/>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6" name="Google Shape;56;p31"/>
          <p:cNvSpPr txBox="1">
            <a:spLocks noGrp="1"/>
          </p:cNvSpPr>
          <p:nvPr>
            <p:ph type="dt" idx="10"/>
          </p:nvPr>
        </p:nvSpPr>
        <p:spPr>
          <a:xfrm>
            <a:off x="838200" y="6356354"/>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7" name="Google Shape;57;p31"/>
          <p:cNvSpPr txBox="1">
            <a:spLocks noGrp="1"/>
          </p:cNvSpPr>
          <p:nvPr>
            <p:ph type="ftr" idx="11"/>
          </p:nvPr>
        </p:nvSpPr>
        <p:spPr>
          <a:xfrm>
            <a:off x="4038600" y="6356354"/>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8" name="Google Shape;58;p31"/>
          <p:cNvSpPr txBox="1">
            <a:spLocks noGrp="1"/>
          </p:cNvSpPr>
          <p:nvPr>
            <p:ph type="sldNum" idx="12"/>
          </p:nvPr>
        </p:nvSpPr>
        <p:spPr>
          <a:xfrm>
            <a:off x="8610600" y="6356354"/>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32"/>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Calibri"/>
              <a:buNone/>
              <a:defRPr sz="32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1" name="Google Shape;61;p32"/>
          <p:cNvSpPr txBox="1">
            <a:spLocks noGrp="1"/>
          </p:cNvSpPr>
          <p:nvPr>
            <p:ph type="body" idx="1"/>
          </p:nvPr>
        </p:nvSpPr>
        <p:spPr>
          <a:xfrm>
            <a:off x="5183188" y="987429"/>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62" name="Google Shape;62;p32"/>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63" name="Google Shape;63;p32"/>
          <p:cNvSpPr txBox="1">
            <a:spLocks noGrp="1"/>
          </p:cNvSpPr>
          <p:nvPr>
            <p:ph type="dt" idx="10"/>
          </p:nvPr>
        </p:nvSpPr>
        <p:spPr>
          <a:xfrm>
            <a:off x="838200" y="6356354"/>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4" name="Google Shape;64;p32"/>
          <p:cNvSpPr txBox="1">
            <a:spLocks noGrp="1"/>
          </p:cNvSpPr>
          <p:nvPr>
            <p:ph type="ftr" idx="11"/>
          </p:nvPr>
        </p:nvSpPr>
        <p:spPr>
          <a:xfrm>
            <a:off x="4038600" y="6356354"/>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5" name="Google Shape;65;p32"/>
          <p:cNvSpPr txBox="1">
            <a:spLocks noGrp="1"/>
          </p:cNvSpPr>
          <p:nvPr>
            <p:ph type="sldNum" idx="12"/>
          </p:nvPr>
        </p:nvSpPr>
        <p:spPr>
          <a:xfrm>
            <a:off x="8610600" y="6356354"/>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3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Calibri"/>
              <a:buNone/>
              <a:defRPr sz="32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8" name="Google Shape;68;p33"/>
          <p:cNvSpPr>
            <a:spLocks noGrp="1"/>
          </p:cNvSpPr>
          <p:nvPr>
            <p:ph type="pic" idx="2"/>
          </p:nvPr>
        </p:nvSpPr>
        <p:spPr>
          <a:xfrm>
            <a:off x="5183188" y="987429"/>
            <a:ext cx="6172200" cy="4873500"/>
          </a:xfrm>
          <a:prstGeom prst="rect">
            <a:avLst/>
          </a:prstGeom>
          <a:noFill/>
          <a:ln>
            <a:noFill/>
          </a:ln>
        </p:spPr>
      </p:sp>
      <p:sp>
        <p:nvSpPr>
          <p:cNvPr id="69" name="Google Shape;69;p33"/>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70" name="Google Shape;70;p33"/>
          <p:cNvSpPr txBox="1">
            <a:spLocks noGrp="1"/>
          </p:cNvSpPr>
          <p:nvPr>
            <p:ph type="dt" idx="10"/>
          </p:nvPr>
        </p:nvSpPr>
        <p:spPr>
          <a:xfrm>
            <a:off x="838200" y="6356354"/>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1" name="Google Shape;71;p33"/>
          <p:cNvSpPr txBox="1">
            <a:spLocks noGrp="1"/>
          </p:cNvSpPr>
          <p:nvPr>
            <p:ph type="ftr" idx="11"/>
          </p:nvPr>
        </p:nvSpPr>
        <p:spPr>
          <a:xfrm>
            <a:off x="4038600" y="6356354"/>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2" name="Google Shape;72;p33"/>
          <p:cNvSpPr txBox="1">
            <a:spLocks noGrp="1"/>
          </p:cNvSpPr>
          <p:nvPr>
            <p:ph type="sldNum" idx="12"/>
          </p:nvPr>
        </p:nvSpPr>
        <p:spPr>
          <a:xfrm>
            <a:off x="8610600" y="6356354"/>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34"/>
          <p:cNvSpPr txBox="1">
            <a:spLocks noGrp="1"/>
          </p:cNvSpPr>
          <p:nvPr>
            <p:ph type="title"/>
          </p:nvPr>
        </p:nvSpPr>
        <p:spPr>
          <a:xfrm>
            <a:off x="838200" y="365129"/>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5" name="Google Shape;75;p34"/>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6" name="Google Shape;76;p34"/>
          <p:cNvSpPr txBox="1">
            <a:spLocks noGrp="1"/>
          </p:cNvSpPr>
          <p:nvPr>
            <p:ph type="dt" idx="10"/>
          </p:nvPr>
        </p:nvSpPr>
        <p:spPr>
          <a:xfrm>
            <a:off x="838200" y="6356354"/>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7" name="Google Shape;77;p34"/>
          <p:cNvSpPr txBox="1">
            <a:spLocks noGrp="1"/>
          </p:cNvSpPr>
          <p:nvPr>
            <p:ph type="ftr" idx="11"/>
          </p:nvPr>
        </p:nvSpPr>
        <p:spPr>
          <a:xfrm>
            <a:off x="4038600" y="6356354"/>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8" name="Google Shape;78;p34"/>
          <p:cNvSpPr txBox="1">
            <a:spLocks noGrp="1"/>
          </p:cNvSpPr>
          <p:nvPr>
            <p:ph type="sldNum" idx="12"/>
          </p:nvPr>
        </p:nvSpPr>
        <p:spPr>
          <a:xfrm>
            <a:off x="8610600" y="6356354"/>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35"/>
          <p:cNvSpPr txBox="1">
            <a:spLocks noGrp="1"/>
          </p:cNvSpPr>
          <p:nvPr>
            <p:ph type="title"/>
          </p:nvPr>
        </p:nvSpPr>
        <p:spPr>
          <a:xfrm rot="5400000">
            <a:off x="7133402"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1" name="Google Shape;81;p35"/>
          <p:cNvSpPr txBox="1">
            <a:spLocks noGrp="1"/>
          </p:cNvSpPr>
          <p:nvPr>
            <p:ph type="body" idx="1"/>
          </p:nvPr>
        </p:nvSpPr>
        <p:spPr>
          <a:xfrm rot="5400000">
            <a:off x="1799402"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 name="Google Shape;82;p35"/>
          <p:cNvSpPr txBox="1">
            <a:spLocks noGrp="1"/>
          </p:cNvSpPr>
          <p:nvPr>
            <p:ph type="dt" idx="10"/>
          </p:nvPr>
        </p:nvSpPr>
        <p:spPr>
          <a:xfrm>
            <a:off x="838200" y="6356354"/>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3" name="Google Shape;83;p35"/>
          <p:cNvSpPr txBox="1">
            <a:spLocks noGrp="1"/>
          </p:cNvSpPr>
          <p:nvPr>
            <p:ph type="ftr" idx="11"/>
          </p:nvPr>
        </p:nvSpPr>
        <p:spPr>
          <a:xfrm>
            <a:off x="4038600" y="6356354"/>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4" name="Google Shape;84;p35"/>
          <p:cNvSpPr txBox="1">
            <a:spLocks noGrp="1"/>
          </p:cNvSpPr>
          <p:nvPr>
            <p:ph type="sldNum" idx="12"/>
          </p:nvPr>
        </p:nvSpPr>
        <p:spPr>
          <a:xfrm>
            <a:off x="8610600" y="6356354"/>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ustom Layout">
  <p:cSld name="1_Custom Layout">
    <p:bg>
      <p:bgPr>
        <a:blipFill>
          <a:blip r:embed="rId2">
            <a:alphaModFix/>
          </a:blip>
          <a:stretch>
            <a:fillRect/>
          </a:stretch>
        </a:blipFill>
        <a:effectLst/>
      </p:bgPr>
    </p:bg>
    <p:spTree>
      <p:nvGrpSpPr>
        <p:cNvPr id="1" name="Shape 85"/>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2_Custom Layout">
  <p:cSld name="2_Custom Layout">
    <p:bg>
      <p:bgPr>
        <a:blipFill>
          <a:blip r:embed="rId2">
            <a:alphaModFix/>
          </a:blip>
          <a:stretch>
            <a:fillRect/>
          </a:stretch>
        </a:blipFill>
        <a:effectLst/>
      </p:bgPr>
    </p:bg>
    <p:spTree>
      <p:nvGrpSpPr>
        <p:cNvPr id="1" name="Shape 8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Custom Layout">
  <p:cSld name="3_Custom Layout">
    <p:bg>
      <p:bgPr>
        <a:blipFill>
          <a:blip r:embed="rId2">
            <a:alphaModFix/>
          </a:blip>
          <a:stretch>
            <a:fillRect/>
          </a:stretch>
        </a:blipFill>
        <a:effectLst/>
      </p:bgPr>
    </p:bg>
    <p:spTree>
      <p:nvGrpSpPr>
        <p:cNvPr id="1" name="Shape 8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9"/>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838200" y="6356354"/>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4038600" y="6356354"/>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8610600" y="6356354"/>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2c9f61e946d_0_0"/>
          <p:cNvSpPr txBox="1"/>
          <p:nvPr/>
        </p:nvSpPr>
        <p:spPr>
          <a:xfrm>
            <a:off x="570300" y="312550"/>
            <a:ext cx="11051400" cy="6064800"/>
          </a:xfrm>
          <a:prstGeom prst="rect">
            <a:avLst/>
          </a:prstGeom>
          <a:noFill/>
          <a:ln>
            <a:noFill/>
          </a:ln>
        </p:spPr>
        <p:txBody>
          <a:bodyPr spcFirstLastPara="1" wrap="square" lIns="91425" tIns="91425" rIns="91425" bIns="91425" anchor="t" anchorCtr="0">
            <a:noAutofit/>
          </a:bodyPr>
          <a:lstStyle/>
          <a:p>
            <a:pPr marL="0" marR="0" algn="ctr">
              <a:lnSpc>
                <a:spcPct val="107000"/>
              </a:lnSpc>
              <a:spcBef>
                <a:spcPts val="0"/>
              </a:spcBef>
              <a:spcAft>
                <a:spcPts val="0"/>
              </a:spcAft>
            </a:pPr>
            <a:r>
              <a:rPr lang="en-US" sz="2400" b="1" i="1" dirty="0">
                <a:effectLst/>
                <a:latin typeface="Arial" panose="020B0604020202020204" pitchFamily="34" charset="0"/>
                <a:ea typeface="Calibri" panose="020F0502020204030204" pitchFamily="34" charset="0"/>
                <a:cs typeface="Times New Roman" panose="02020603050405020304" pitchFamily="18" charset="0"/>
              </a:rPr>
              <a:t>Project</a:t>
            </a:r>
            <a:r>
              <a:rPr lang="en-US" sz="2400" b="1" dirty="0">
                <a:effectLst/>
                <a:latin typeface="Arial" panose="020B0604020202020204" pitchFamily="34" charset="0"/>
                <a:ea typeface="Calibri" panose="020F0502020204030204" pitchFamily="34" charset="0"/>
                <a:cs typeface="Times New Roman" panose="02020603050405020304" pitchFamily="18" charset="0"/>
              </a:rPr>
              <a:t>  </a:t>
            </a:r>
          </a:p>
          <a:p>
            <a:pPr marL="0" marR="0" algn="ctr">
              <a:lnSpc>
                <a:spcPct val="107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3200" b="1" dirty="0">
                <a:effectLst/>
                <a:latin typeface="Arial" panose="020B0604020202020204" pitchFamily="34" charset="0"/>
                <a:ea typeface="Calibri" panose="020F0502020204030204" pitchFamily="34" charset="0"/>
                <a:cs typeface="Times New Roman" panose="02020603050405020304" pitchFamily="18" charset="0"/>
              </a:rPr>
              <a:t>Movie Recommendation System – Using KNN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By: Nayan Patel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UoM ID: 27900573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0" indent="0" algn="ctr" rtl="0">
              <a:lnSpc>
                <a:spcPct val="91283"/>
              </a:lnSpc>
              <a:spcBef>
                <a:spcPts val="900"/>
              </a:spcBef>
              <a:spcAft>
                <a:spcPts val="0"/>
              </a:spcAft>
              <a:buNone/>
            </a:pPr>
            <a:r>
              <a:rPr lang="en-US" sz="2850" b="1" dirty="0">
                <a:solidFill>
                  <a:schemeClr val="dk1"/>
                </a:solidFill>
                <a:highlight>
                  <a:srgbClr val="FFFFFF"/>
                </a:highlight>
              </a:rPr>
              <a:t>Presented by:</a:t>
            </a:r>
            <a:endParaRPr sz="2850" b="1" dirty="0">
              <a:solidFill>
                <a:schemeClr val="dk1"/>
              </a:solidFill>
              <a:highlight>
                <a:srgbClr val="FFFFFF"/>
              </a:highlight>
            </a:endParaRPr>
          </a:p>
          <a:p>
            <a:pPr marL="457200" lvl="0" indent="0" algn="ctr" rtl="0">
              <a:lnSpc>
                <a:spcPct val="91283"/>
              </a:lnSpc>
              <a:spcBef>
                <a:spcPts val="900"/>
              </a:spcBef>
              <a:spcAft>
                <a:spcPts val="0"/>
              </a:spcAft>
              <a:buNone/>
            </a:pPr>
            <a:r>
              <a:rPr lang="en-US" sz="2850" b="1" i="1" dirty="0">
                <a:solidFill>
                  <a:schemeClr val="dk1"/>
                </a:solidFill>
                <a:highlight>
                  <a:srgbClr val="FFFFFF"/>
                </a:highlight>
              </a:rPr>
              <a:t>Nayan Patel</a:t>
            </a:r>
            <a:endParaRPr sz="2850" b="1" i="1" dirty="0">
              <a:solidFill>
                <a:schemeClr val="dk1"/>
              </a:solidFill>
              <a:highlight>
                <a:srgbClr val="FFFFFF"/>
              </a:highlight>
            </a:endParaRPr>
          </a:p>
          <a:p>
            <a:pPr marL="457200" lvl="0" indent="0" algn="ctr" rtl="0">
              <a:lnSpc>
                <a:spcPct val="91283"/>
              </a:lnSpc>
              <a:spcBef>
                <a:spcPts val="900"/>
              </a:spcBef>
              <a:spcAft>
                <a:spcPts val="0"/>
              </a:spcAft>
              <a:buNone/>
            </a:pPr>
            <a:endParaRPr sz="2850" b="1" dirty="0">
              <a:solidFill>
                <a:schemeClr val="dk1"/>
              </a:solidFill>
              <a:highlight>
                <a:srgbClr val="FFFFFF"/>
              </a:highlight>
            </a:endParaRPr>
          </a:p>
          <a:p>
            <a:pPr marL="457200" lvl="0" indent="0" algn="ctr" rtl="0">
              <a:lnSpc>
                <a:spcPct val="91283"/>
              </a:lnSpc>
              <a:spcBef>
                <a:spcPts val="900"/>
              </a:spcBef>
              <a:spcAft>
                <a:spcPts val="0"/>
              </a:spcAft>
              <a:buNone/>
            </a:pPr>
            <a:r>
              <a:rPr lang="en-US" sz="2850" b="1" dirty="0">
                <a:solidFill>
                  <a:schemeClr val="dk1"/>
                </a:solidFill>
                <a:highlight>
                  <a:srgbClr val="FFFFFF"/>
                </a:highlight>
              </a:rPr>
              <a:t>CIS 585:  Advanced Artificial Intelligence, Winter 2024 </a:t>
            </a:r>
            <a:endParaRPr sz="2850" b="1" dirty="0">
              <a:solidFill>
                <a:schemeClr val="dk1"/>
              </a:solidFill>
              <a:highlight>
                <a:srgbClr val="FFFFFF"/>
              </a:highlight>
            </a:endParaRPr>
          </a:p>
          <a:p>
            <a:pPr marL="457200" lvl="0" indent="0" algn="ctr" rtl="0">
              <a:lnSpc>
                <a:spcPct val="115000"/>
              </a:lnSpc>
              <a:spcBef>
                <a:spcPts val="900"/>
              </a:spcBef>
              <a:spcAft>
                <a:spcPts val="0"/>
              </a:spcAft>
              <a:buNone/>
            </a:pPr>
            <a:endParaRPr sz="2800" dirty="0">
              <a:solidFill>
                <a:schemeClr val="dk1"/>
              </a:solidFill>
              <a:latin typeface="Calibri"/>
              <a:ea typeface="Calibri"/>
              <a:cs typeface="Calibri"/>
              <a:sym typeface="Calibri"/>
            </a:endParaRPr>
          </a:p>
          <a:p>
            <a:pPr marL="0" lvl="0" indent="0" algn="l" rtl="0">
              <a:lnSpc>
                <a:spcPct val="115000"/>
              </a:lnSpc>
              <a:spcBef>
                <a:spcPts val="1800"/>
              </a:spcBef>
              <a:spcAft>
                <a:spcPts val="0"/>
              </a:spcAft>
              <a:buNone/>
            </a:pPr>
            <a:endParaRPr sz="1200" dirty="0">
              <a:solidFill>
                <a:srgbClr val="374151"/>
              </a:solidFill>
            </a:endParaRPr>
          </a:p>
          <a:p>
            <a:pPr marL="457200" lvl="0" indent="0" algn="l" rtl="0">
              <a:lnSpc>
                <a:spcPct val="115000"/>
              </a:lnSpc>
              <a:spcBef>
                <a:spcPts val="1800"/>
              </a:spcBef>
              <a:spcAft>
                <a:spcPts val="0"/>
              </a:spcAft>
              <a:buNone/>
            </a:pPr>
            <a:endParaRPr sz="1200" dirty="0">
              <a:solidFill>
                <a:srgbClr val="374151"/>
              </a:solidFill>
            </a:endParaRPr>
          </a:p>
          <a:p>
            <a:pPr marL="0" lvl="0" indent="0" algn="l" rtl="0">
              <a:lnSpc>
                <a:spcPct val="115000"/>
              </a:lnSpc>
              <a:spcBef>
                <a:spcPts val="1800"/>
              </a:spcBef>
              <a:spcAft>
                <a:spcPts val="0"/>
              </a:spcAft>
              <a:buNone/>
            </a:pPr>
            <a:endParaRPr sz="2800" dirty="0">
              <a:solidFill>
                <a:srgbClr val="374151"/>
              </a:solidFill>
              <a:latin typeface="Calibri"/>
              <a:ea typeface="Calibri"/>
              <a:cs typeface="Calibri"/>
              <a:sym typeface="Calibri"/>
            </a:endParaRPr>
          </a:p>
          <a:p>
            <a:pPr marL="0" lvl="0" indent="0" algn="l" rtl="0">
              <a:lnSpc>
                <a:spcPct val="115000"/>
              </a:lnSpc>
              <a:spcBef>
                <a:spcPts val="1800"/>
              </a:spcBef>
              <a:spcAft>
                <a:spcPts val="0"/>
              </a:spcAft>
              <a:buNone/>
            </a:pPr>
            <a:endParaRPr sz="1200" dirty="0">
              <a:solidFill>
                <a:srgbClr val="374151"/>
              </a:solidFill>
            </a:endParaRPr>
          </a:p>
          <a:p>
            <a:pPr marL="0" lvl="0" indent="0" algn="l" rtl="0">
              <a:spcBef>
                <a:spcPts val="1800"/>
              </a:spcBef>
              <a:spcAft>
                <a:spcPts val="0"/>
              </a:spcAft>
              <a:buNone/>
            </a:pPr>
            <a:endParaRPr sz="2800" dirty="0">
              <a:solidFill>
                <a:schemeClr val="dk1"/>
              </a:solidFill>
              <a:latin typeface="Calibri"/>
              <a:ea typeface="Calibri"/>
              <a:cs typeface="Calibri"/>
              <a:sym typeface="Calibri"/>
            </a:endParaRPr>
          </a:p>
          <a:p>
            <a:pPr marL="0" lvl="0" indent="0" algn="l" rtl="0">
              <a:spcBef>
                <a:spcPts val="0"/>
              </a:spcBef>
              <a:spcAft>
                <a:spcPts val="0"/>
              </a:spcAft>
              <a:buNone/>
            </a:pPr>
            <a:endParaRPr sz="2800" dirty="0">
              <a:solidFill>
                <a:schemeClr val="dk1"/>
              </a:solidFill>
              <a:latin typeface="Calibri"/>
              <a:ea typeface="Calibri"/>
              <a:cs typeface="Calibri"/>
              <a:sym typeface="Calibri"/>
            </a:endParaRPr>
          </a:p>
          <a:p>
            <a:pPr marL="0" lvl="0" indent="0" algn="l" rtl="0">
              <a:spcBef>
                <a:spcPts val="0"/>
              </a:spcBef>
              <a:spcAft>
                <a:spcPts val="0"/>
              </a:spcAft>
              <a:buNone/>
            </a:pPr>
            <a:endParaRPr sz="2800" dirty="0">
              <a:solidFill>
                <a:schemeClr val="dk1"/>
              </a:solidFill>
              <a:latin typeface="Calibri"/>
              <a:ea typeface="Calibri"/>
              <a:cs typeface="Calibri"/>
              <a:sym typeface="Calibri"/>
            </a:endParaRPr>
          </a:p>
        </p:txBody>
      </p:sp>
      <p:pic>
        <p:nvPicPr>
          <p:cNvPr id="94" name="Google Shape;94;g2c9f61e946d_0_0"/>
          <p:cNvPicPr preferRelativeResize="0"/>
          <p:nvPr/>
        </p:nvPicPr>
        <p:blipFill>
          <a:blip r:embed="rId3">
            <a:alphaModFix/>
          </a:blip>
          <a:stretch>
            <a:fillRect/>
          </a:stretch>
        </p:blipFill>
        <p:spPr>
          <a:xfrm>
            <a:off x="5613800" y="4824763"/>
            <a:ext cx="1428750" cy="1552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1" name="Google Shape;101;g2cbc16d843f_1_27"/>
          <p:cNvSpPr txBox="1"/>
          <p:nvPr/>
        </p:nvSpPr>
        <p:spPr>
          <a:xfrm>
            <a:off x="286424" y="443875"/>
            <a:ext cx="11603175" cy="867130"/>
          </a:xfrm>
          <a:prstGeom prst="rect">
            <a:avLst/>
          </a:prstGeom>
          <a:noFill/>
          <a:ln>
            <a:noFill/>
          </a:ln>
        </p:spPr>
        <p:txBody>
          <a:bodyPr spcFirstLastPara="1" wrap="square" lIns="91425" tIns="91425" rIns="91425" bIns="91425" anchor="t" anchorCtr="0">
            <a:spAutoFit/>
          </a:bodyPr>
          <a:lstStyle/>
          <a:p>
            <a:pPr marL="457200" lvl="0" indent="0" algn="ctr" rtl="0">
              <a:lnSpc>
                <a:spcPct val="91283"/>
              </a:lnSpc>
              <a:spcBef>
                <a:spcPts val="600"/>
              </a:spcBef>
              <a:spcAft>
                <a:spcPts val="900"/>
              </a:spcAft>
              <a:buNone/>
            </a:pPr>
            <a:r>
              <a:rPr lang="en-US" sz="3500" b="1" dirty="0">
                <a:solidFill>
                  <a:schemeClr val="dk1"/>
                </a:solidFill>
                <a:highlight>
                  <a:schemeClr val="lt1"/>
                </a:highlight>
                <a:latin typeface="Calibri"/>
                <a:ea typeface="Calibri"/>
                <a:cs typeface="Calibri"/>
                <a:sym typeface="Calibri"/>
              </a:rPr>
              <a:t>Project Goal</a:t>
            </a:r>
            <a:endParaRPr sz="3500" b="1" dirty="0">
              <a:solidFill>
                <a:schemeClr val="dk1"/>
              </a:solidFill>
              <a:highlight>
                <a:schemeClr val="lt1"/>
              </a:highlight>
              <a:latin typeface="Calibri"/>
              <a:ea typeface="Calibri"/>
              <a:cs typeface="Calibri"/>
              <a:sym typeface="Calibri"/>
            </a:endParaRPr>
          </a:p>
        </p:txBody>
      </p:sp>
      <p:sp>
        <p:nvSpPr>
          <p:cNvPr id="2" name="Google Shape;109;g26e2bfaee8c_0_0">
            <a:extLst>
              <a:ext uri="{FF2B5EF4-FFF2-40B4-BE49-F238E27FC236}">
                <a16:creationId xmlns:a16="http://schemas.microsoft.com/office/drawing/2014/main" id="{0615AE24-33BB-9AFF-5541-411D4942102C}"/>
              </a:ext>
            </a:extLst>
          </p:cNvPr>
          <p:cNvSpPr txBox="1"/>
          <p:nvPr/>
        </p:nvSpPr>
        <p:spPr>
          <a:xfrm>
            <a:off x="413250" y="1311004"/>
            <a:ext cx="11365500" cy="4892847"/>
          </a:xfrm>
          <a:prstGeom prst="rect">
            <a:avLst/>
          </a:prstGeom>
          <a:noFill/>
          <a:ln>
            <a:noFill/>
          </a:ln>
        </p:spPr>
        <p:txBody>
          <a:bodyPr spcFirstLastPara="1" wrap="square" lIns="91425" tIns="91425" rIns="91425" bIns="91425" anchor="t" anchorCtr="0">
            <a:noAutofit/>
          </a:bodyPr>
          <a:lstStyle/>
          <a:p>
            <a:pPr marL="285750" lvl="0" indent="-285750" algn="l" rtl="0">
              <a:lnSpc>
                <a:spcPct val="150000"/>
              </a:lnSpc>
              <a:spcBef>
                <a:spcPts val="0"/>
              </a:spcBef>
              <a:spcAft>
                <a:spcPts val="0"/>
              </a:spcAft>
              <a:buFont typeface="Arial" panose="020B0604020202020204" pitchFamily="34" charset="0"/>
              <a:buChar char="•"/>
            </a:pPr>
            <a:r>
              <a:rPr lang="en-US" sz="3600" dirty="0">
                <a:solidFill>
                  <a:srgbClr val="0D0D0D"/>
                </a:solidFill>
                <a:highlight>
                  <a:srgbClr val="FFFFFF"/>
                </a:highlight>
                <a:latin typeface="Calibri"/>
                <a:ea typeface="Calibri"/>
                <a:cs typeface="Calibri"/>
                <a:sym typeface="Calibri"/>
              </a:rPr>
              <a:t>Design a content-based movie recommendation system</a:t>
            </a:r>
          </a:p>
          <a:p>
            <a:pPr marL="285750" lvl="0" indent="-285750" algn="l" rtl="0">
              <a:lnSpc>
                <a:spcPct val="150000"/>
              </a:lnSpc>
              <a:spcBef>
                <a:spcPts val="0"/>
              </a:spcBef>
              <a:spcAft>
                <a:spcPts val="0"/>
              </a:spcAft>
              <a:buFont typeface="Arial" panose="020B0604020202020204" pitchFamily="34" charset="0"/>
              <a:buChar char="•"/>
            </a:pPr>
            <a:r>
              <a:rPr lang="en-US" sz="3600" dirty="0">
                <a:solidFill>
                  <a:srgbClr val="0D0D0D"/>
                </a:solidFill>
                <a:highlight>
                  <a:srgbClr val="FFFFFF"/>
                </a:highlight>
                <a:latin typeface="Calibri"/>
                <a:ea typeface="Calibri"/>
                <a:cs typeface="Calibri"/>
                <a:sym typeface="Calibri"/>
              </a:rPr>
              <a:t>Use movie database with different categories</a:t>
            </a:r>
          </a:p>
          <a:p>
            <a:pPr marL="285750" lvl="0" indent="-285750" algn="l" rtl="0">
              <a:lnSpc>
                <a:spcPct val="150000"/>
              </a:lnSpc>
              <a:spcBef>
                <a:spcPts val="0"/>
              </a:spcBef>
              <a:spcAft>
                <a:spcPts val="0"/>
              </a:spcAft>
              <a:buFont typeface="Arial" panose="020B0604020202020204" pitchFamily="34" charset="0"/>
              <a:buChar char="•"/>
            </a:pPr>
            <a:r>
              <a:rPr lang="en-US" sz="3600" dirty="0">
                <a:solidFill>
                  <a:srgbClr val="0D0D0D"/>
                </a:solidFill>
                <a:highlight>
                  <a:srgbClr val="FFFFFF"/>
                </a:highlight>
                <a:latin typeface="Calibri"/>
                <a:ea typeface="Calibri"/>
                <a:cs typeface="Calibri"/>
                <a:sym typeface="Calibri"/>
              </a:rPr>
              <a:t>Build a model based on K-Nearest Neighbors (KNN) algorithm</a:t>
            </a:r>
          </a:p>
          <a:p>
            <a:pPr marL="285750" lvl="0" indent="-285750" algn="l" rtl="0">
              <a:lnSpc>
                <a:spcPct val="150000"/>
              </a:lnSpc>
              <a:spcBef>
                <a:spcPts val="0"/>
              </a:spcBef>
              <a:spcAft>
                <a:spcPts val="0"/>
              </a:spcAft>
              <a:buFont typeface="Arial" panose="020B0604020202020204" pitchFamily="34" charset="0"/>
              <a:buChar char="•"/>
            </a:pPr>
            <a:r>
              <a:rPr lang="en-US" sz="3600" dirty="0">
                <a:solidFill>
                  <a:srgbClr val="0D0D0D"/>
                </a:solidFill>
                <a:highlight>
                  <a:srgbClr val="FFFFFF"/>
                </a:highlight>
                <a:latin typeface="Calibri"/>
                <a:ea typeface="Calibri"/>
                <a:cs typeface="Calibri"/>
                <a:sym typeface="Calibri"/>
              </a:rPr>
              <a:t>Evaluate the model performance and test </a:t>
            </a:r>
            <a:endParaRPr sz="3600" dirty="0">
              <a:solidFill>
                <a:srgbClr val="0D0D0D"/>
              </a:solidFill>
              <a:highlight>
                <a:srgbClr val="FFFFFF"/>
              </a:highlight>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1" name="Google Shape;101;g2cbc16d843f_1_27"/>
          <p:cNvSpPr txBox="1"/>
          <p:nvPr/>
        </p:nvSpPr>
        <p:spPr>
          <a:xfrm>
            <a:off x="286424" y="443875"/>
            <a:ext cx="11603175" cy="867130"/>
          </a:xfrm>
          <a:prstGeom prst="rect">
            <a:avLst/>
          </a:prstGeom>
          <a:noFill/>
          <a:ln>
            <a:noFill/>
          </a:ln>
        </p:spPr>
        <p:txBody>
          <a:bodyPr spcFirstLastPara="1" wrap="square" lIns="91425" tIns="91425" rIns="91425" bIns="91425" anchor="t" anchorCtr="0">
            <a:spAutoFit/>
          </a:bodyPr>
          <a:lstStyle/>
          <a:p>
            <a:pPr marL="457200" lvl="0" indent="0" algn="ctr" rtl="0">
              <a:lnSpc>
                <a:spcPct val="91283"/>
              </a:lnSpc>
              <a:spcBef>
                <a:spcPts val="600"/>
              </a:spcBef>
              <a:spcAft>
                <a:spcPts val="900"/>
              </a:spcAft>
              <a:buNone/>
            </a:pPr>
            <a:r>
              <a:rPr lang="en-US" sz="3500" b="1" dirty="0">
                <a:solidFill>
                  <a:schemeClr val="dk1"/>
                </a:solidFill>
                <a:highlight>
                  <a:schemeClr val="lt1"/>
                </a:highlight>
                <a:latin typeface="Calibri"/>
                <a:ea typeface="Calibri"/>
                <a:cs typeface="Calibri"/>
                <a:sym typeface="Calibri"/>
              </a:rPr>
              <a:t>Software Design</a:t>
            </a:r>
            <a:endParaRPr sz="3500" b="1" dirty="0">
              <a:solidFill>
                <a:schemeClr val="dk1"/>
              </a:solidFill>
              <a:highlight>
                <a:schemeClr val="lt1"/>
              </a:highlight>
              <a:latin typeface="Calibri"/>
              <a:ea typeface="Calibri"/>
              <a:cs typeface="Calibri"/>
              <a:sym typeface="Calibri"/>
            </a:endParaRPr>
          </a:p>
        </p:txBody>
      </p:sp>
      <p:pic>
        <p:nvPicPr>
          <p:cNvPr id="4" name="Picture 3">
            <a:extLst>
              <a:ext uri="{FF2B5EF4-FFF2-40B4-BE49-F238E27FC236}">
                <a16:creationId xmlns:a16="http://schemas.microsoft.com/office/drawing/2014/main" id="{52582E1E-0AC2-6F45-44BC-53270988F070}"/>
              </a:ext>
            </a:extLst>
          </p:cNvPr>
          <p:cNvPicPr>
            <a:picLocks noChangeAspect="1"/>
          </p:cNvPicPr>
          <p:nvPr/>
        </p:nvPicPr>
        <p:blipFill>
          <a:blip r:embed="rId3"/>
          <a:stretch>
            <a:fillRect/>
          </a:stretch>
        </p:blipFill>
        <p:spPr>
          <a:xfrm>
            <a:off x="790575" y="1504950"/>
            <a:ext cx="10610850" cy="3848100"/>
          </a:xfrm>
          <a:prstGeom prst="rect">
            <a:avLst/>
          </a:prstGeom>
        </p:spPr>
      </p:pic>
    </p:spTree>
    <p:extLst>
      <p:ext uri="{BB962C8B-B14F-4D97-AF65-F5344CB8AC3E}">
        <p14:creationId xmlns:p14="http://schemas.microsoft.com/office/powerpoint/2010/main" val="3075607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1" name="Google Shape;101;g2cbc16d843f_1_27"/>
          <p:cNvSpPr txBox="1"/>
          <p:nvPr/>
        </p:nvSpPr>
        <p:spPr>
          <a:xfrm>
            <a:off x="286424" y="443875"/>
            <a:ext cx="11603175" cy="867130"/>
          </a:xfrm>
          <a:prstGeom prst="rect">
            <a:avLst/>
          </a:prstGeom>
          <a:noFill/>
          <a:ln>
            <a:noFill/>
          </a:ln>
        </p:spPr>
        <p:txBody>
          <a:bodyPr spcFirstLastPara="1" wrap="square" lIns="91425" tIns="91425" rIns="91425" bIns="91425" anchor="t" anchorCtr="0">
            <a:spAutoFit/>
          </a:bodyPr>
          <a:lstStyle/>
          <a:p>
            <a:pPr marL="457200" lvl="0" indent="0" algn="ctr" rtl="0">
              <a:lnSpc>
                <a:spcPct val="91283"/>
              </a:lnSpc>
              <a:spcBef>
                <a:spcPts val="600"/>
              </a:spcBef>
              <a:spcAft>
                <a:spcPts val="900"/>
              </a:spcAft>
              <a:buNone/>
            </a:pPr>
            <a:r>
              <a:rPr lang="en-US" sz="3500" b="1" dirty="0">
                <a:solidFill>
                  <a:schemeClr val="dk1"/>
                </a:solidFill>
                <a:highlight>
                  <a:schemeClr val="lt1"/>
                </a:highlight>
                <a:latin typeface="Calibri"/>
                <a:ea typeface="Calibri"/>
                <a:cs typeface="Calibri"/>
                <a:sym typeface="Calibri"/>
              </a:rPr>
              <a:t>Tools Used</a:t>
            </a:r>
            <a:endParaRPr sz="3500" b="1" dirty="0">
              <a:solidFill>
                <a:schemeClr val="dk1"/>
              </a:solidFill>
              <a:highlight>
                <a:schemeClr val="lt1"/>
              </a:highlight>
              <a:latin typeface="Calibri"/>
              <a:ea typeface="Calibri"/>
              <a:cs typeface="Calibri"/>
              <a:sym typeface="Calibri"/>
            </a:endParaRPr>
          </a:p>
        </p:txBody>
      </p:sp>
      <p:sp>
        <p:nvSpPr>
          <p:cNvPr id="2" name="Google Shape;109;g26e2bfaee8c_0_0">
            <a:extLst>
              <a:ext uri="{FF2B5EF4-FFF2-40B4-BE49-F238E27FC236}">
                <a16:creationId xmlns:a16="http://schemas.microsoft.com/office/drawing/2014/main" id="{0615AE24-33BB-9AFF-5541-411D4942102C}"/>
              </a:ext>
            </a:extLst>
          </p:cNvPr>
          <p:cNvSpPr txBox="1"/>
          <p:nvPr/>
        </p:nvSpPr>
        <p:spPr>
          <a:xfrm>
            <a:off x="413250" y="1311004"/>
            <a:ext cx="11365500" cy="4892847"/>
          </a:xfrm>
          <a:prstGeom prst="rect">
            <a:avLst/>
          </a:prstGeom>
          <a:noFill/>
          <a:ln>
            <a:noFill/>
          </a:ln>
        </p:spPr>
        <p:txBody>
          <a:bodyPr spcFirstLastPara="1" wrap="square" lIns="91425" tIns="91425" rIns="91425" bIns="91425" anchor="t" anchorCtr="0">
            <a:noAutofit/>
          </a:bodyPr>
          <a:lstStyle/>
          <a:p>
            <a:pPr marL="457200" marR="0">
              <a:lnSpc>
                <a:spcPct val="150000"/>
              </a:lnSpc>
              <a:spcBef>
                <a:spcPts val="0"/>
              </a:spcBef>
              <a:spcAft>
                <a:spcPts val="800"/>
              </a:spcAft>
            </a:pPr>
            <a:r>
              <a:rPr lang="en-US" sz="2400" b="1" dirty="0">
                <a:effectLst/>
                <a:latin typeface="Arial" panose="020B0604020202020204" pitchFamily="34" charset="0"/>
                <a:ea typeface="Calibri" panose="020F0502020204030204" pitchFamily="34" charset="0"/>
                <a:cs typeface="Times New Roman" panose="02020603050405020304" pitchFamily="18" charset="0"/>
              </a:rPr>
              <a:t>Language</a:t>
            </a:r>
            <a:r>
              <a:rPr lang="en-US" sz="2400" dirty="0">
                <a:effectLst/>
                <a:latin typeface="Arial" panose="020B0604020202020204" pitchFamily="34" charset="0"/>
                <a:ea typeface="Calibri" panose="020F0502020204030204" pitchFamily="34" charset="0"/>
                <a:cs typeface="Times New Roman" panose="02020603050405020304" pitchFamily="18" charset="0"/>
              </a:rPr>
              <a:t>:  Python v3.10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50000"/>
              </a:lnSpc>
              <a:spcBef>
                <a:spcPts val="0"/>
              </a:spcBef>
              <a:spcAft>
                <a:spcPts val="800"/>
              </a:spcAft>
            </a:pPr>
            <a:r>
              <a:rPr lang="en-US" sz="2400" b="1" dirty="0">
                <a:effectLst/>
                <a:latin typeface="Arial" panose="020B0604020202020204" pitchFamily="34" charset="0"/>
                <a:ea typeface="Calibri" panose="020F0502020204030204" pitchFamily="34" charset="0"/>
                <a:cs typeface="Times New Roman" panose="02020603050405020304" pitchFamily="18" charset="0"/>
              </a:rPr>
              <a:t>Libraries Used</a:t>
            </a:r>
            <a:r>
              <a:rPr lang="en-US" sz="2400" dirty="0">
                <a:effectLst/>
                <a:latin typeface="Arial" panose="020B0604020202020204" pitchFamily="34" charset="0"/>
                <a:ea typeface="Calibri" panose="020F0502020204030204" pitchFamily="34" charset="0"/>
                <a:cs typeface="Times New Roman" panose="02020603050405020304" pitchFamily="18" charset="0"/>
              </a:rPr>
              <a:t>: Python libraries were used: pandas,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numpy</a:t>
            </a:r>
            <a:r>
              <a:rPr lang="en-US" sz="2400" dirty="0">
                <a:effectLst/>
                <a:latin typeface="Arial" panose="020B0604020202020204" pitchFamily="34" charset="0"/>
                <a:ea typeface="Calibri" panose="020F0502020204030204" pitchFamily="34" charset="0"/>
                <a:cs typeface="Times New Roman" panose="02020603050405020304" pitchFamily="18" charset="0"/>
              </a:rPr>
              <a:t>, seaborn, matplotlib (modules used: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pyplot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r>
              <a:rPr lang="en-US" sz="2400" dirty="0">
                <a:latin typeface="Calibri" panose="020F050202020403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sklearn</a:t>
            </a:r>
            <a:r>
              <a:rPr lang="en-US" sz="2400" dirty="0">
                <a:effectLst/>
                <a:latin typeface="Arial" panose="020B0604020202020204" pitchFamily="34" charset="0"/>
                <a:ea typeface="Calibri" panose="020F0502020204030204" pitchFamily="34" charset="0"/>
                <a:cs typeface="Times New Roman" panose="02020603050405020304" pitchFamily="18" charset="0"/>
              </a:rPr>
              <a:t> (modules used: pipeline, preprocessing,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model_selection</a:t>
            </a:r>
            <a:r>
              <a:rPr lang="en-US" sz="2400" dirty="0">
                <a:effectLst/>
                <a:latin typeface="Arial" panose="020B0604020202020204" pitchFamily="34" charset="0"/>
                <a:ea typeface="Calibri" panose="020F0502020204030204" pitchFamily="34" charset="0"/>
                <a:cs typeface="Times New Roman" panose="02020603050405020304" pitchFamily="18" charset="0"/>
              </a:rPr>
              <a:t>, compose, neighbors, metrics, impute)</a:t>
            </a:r>
            <a:r>
              <a:rPr lang="en-US" sz="2400" dirty="0">
                <a:latin typeface="Calibri" panose="020F050202020403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tkinter</a:t>
            </a:r>
            <a:endParaRPr lang="en-US" sz="2400" dirty="0">
              <a:effectLst/>
              <a:latin typeface="Arial" panose="020B0604020202020204" pitchFamily="34" charset="0"/>
              <a:ea typeface="Calibri" panose="020F0502020204030204" pitchFamily="34" charset="0"/>
              <a:cs typeface="Times New Roman" panose="02020603050405020304" pitchFamily="18" charset="0"/>
            </a:endParaRPr>
          </a:p>
          <a:p>
            <a:pPr marL="457200">
              <a:lnSpc>
                <a:spcPct val="150000"/>
              </a:lnSpc>
              <a:spcAft>
                <a:spcPts val="800"/>
              </a:spcAft>
            </a:pPr>
            <a:r>
              <a:rPr lang="en-US" sz="2400" b="1" dirty="0">
                <a:effectLst/>
                <a:latin typeface="Arial" panose="020B0604020202020204" pitchFamily="34" charset="0"/>
                <a:ea typeface="Calibri" panose="020F0502020204030204" pitchFamily="34" charset="0"/>
                <a:cs typeface="Times New Roman" panose="02020603050405020304" pitchFamily="18" charset="0"/>
              </a:rPr>
              <a:t>Editor</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Pycharm</a:t>
            </a:r>
            <a:r>
              <a:rPr lang="en-US" sz="2400" dirty="0">
                <a:effectLst/>
                <a:latin typeface="Arial" panose="020B0604020202020204" pitchFamily="34" charset="0"/>
                <a:ea typeface="Calibri" panose="020F0502020204030204" pitchFamily="34" charset="0"/>
                <a:cs typeface="Times New Roman" panose="02020603050405020304" pitchFamily="18" charset="0"/>
              </a:rPr>
              <a:t> 2022.2.2 (Community Edition)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50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l" rtl="0">
              <a:lnSpc>
                <a:spcPct val="150000"/>
              </a:lnSpc>
              <a:spcBef>
                <a:spcPts val="0"/>
              </a:spcBef>
              <a:spcAft>
                <a:spcPts val="0"/>
              </a:spcAft>
              <a:buFont typeface="Arial" panose="020B0604020202020204" pitchFamily="34" charset="0"/>
              <a:buChar char="•"/>
            </a:pPr>
            <a:endParaRPr sz="4400" dirty="0">
              <a:solidFill>
                <a:srgbClr val="0D0D0D"/>
              </a:solidFill>
              <a:highlight>
                <a:srgbClr val="FFFFFF"/>
              </a:highlight>
              <a:latin typeface="Calibri"/>
              <a:ea typeface="Calibri"/>
              <a:cs typeface="Calibri"/>
              <a:sym typeface="Calibri"/>
            </a:endParaRPr>
          </a:p>
        </p:txBody>
      </p:sp>
    </p:spTree>
    <p:extLst>
      <p:ext uri="{BB962C8B-B14F-4D97-AF65-F5344CB8AC3E}">
        <p14:creationId xmlns:p14="http://schemas.microsoft.com/office/powerpoint/2010/main" val="2380106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1" name="Google Shape;101;g2cbc16d843f_1_27"/>
          <p:cNvSpPr txBox="1"/>
          <p:nvPr/>
        </p:nvSpPr>
        <p:spPr>
          <a:xfrm>
            <a:off x="286424" y="443875"/>
            <a:ext cx="11603175" cy="867130"/>
          </a:xfrm>
          <a:prstGeom prst="rect">
            <a:avLst/>
          </a:prstGeom>
          <a:noFill/>
          <a:ln>
            <a:noFill/>
          </a:ln>
        </p:spPr>
        <p:txBody>
          <a:bodyPr spcFirstLastPara="1" wrap="square" lIns="91425" tIns="91425" rIns="91425" bIns="91425" anchor="t" anchorCtr="0">
            <a:spAutoFit/>
          </a:bodyPr>
          <a:lstStyle/>
          <a:p>
            <a:pPr marL="457200" lvl="0" indent="0" algn="ctr" rtl="0">
              <a:lnSpc>
                <a:spcPct val="91283"/>
              </a:lnSpc>
              <a:spcBef>
                <a:spcPts val="600"/>
              </a:spcBef>
              <a:spcAft>
                <a:spcPts val="900"/>
              </a:spcAft>
              <a:buNone/>
            </a:pPr>
            <a:r>
              <a:rPr lang="en-US" sz="3500" b="1" dirty="0">
                <a:solidFill>
                  <a:schemeClr val="dk1"/>
                </a:solidFill>
                <a:highlight>
                  <a:schemeClr val="lt1"/>
                </a:highlight>
                <a:latin typeface="Calibri"/>
                <a:ea typeface="Calibri"/>
                <a:cs typeface="Calibri"/>
                <a:sym typeface="Calibri"/>
              </a:rPr>
              <a:t>Implementation Steps</a:t>
            </a:r>
            <a:endParaRPr sz="3500" b="1" dirty="0">
              <a:solidFill>
                <a:schemeClr val="dk1"/>
              </a:solidFill>
              <a:highlight>
                <a:schemeClr val="lt1"/>
              </a:highlight>
              <a:latin typeface="Calibri"/>
              <a:ea typeface="Calibri"/>
              <a:cs typeface="Calibri"/>
              <a:sym typeface="Calibri"/>
            </a:endParaRPr>
          </a:p>
        </p:txBody>
      </p:sp>
      <p:sp>
        <p:nvSpPr>
          <p:cNvPr id="2" name="Google Shape;109;g26e2bfaee8c_0_0">
            <a:extLst>
              <a:ext uri="{FF2B5EF4-FFF2-40B4-BE49-F238E27FC236}">
                <a16:creationId xmlns:a16="http://schemas.microsoft.com/office/drawing/2014/main" id="{0615AE24-33BB-9AFF-5541-411D4942102C}"/>
              </a:ext>
            </a:extLst>
          </p:cNvPr>
          <p:cNvSpPr txBox="1"/>
          <p:nvPr/>
        </p:nvSpPr>
        <p:spPr>
          <a:xfrm>
            <a:off x="413250" y="1311004"/>
            <a:ext cx="11365500" cy="4892847"/>
          </a:xfrm>
          <a:prstGeom prst="rect">
            <a:avLst/>
          </a:prstGeom>
          <a:noFill/>
          <a:ln>
            <a:noFill/>
          </a:ln>
        </p:spPr>
        <p:txBody>
          <a:bodyPr spcFirstLastPara="1" wrap="square" lIns="91425" tIns="91425" rIns="91425" bIns="91425" anchor="t" anchorCtr="0">
            <a:noAutofit/>
          </a:bodyPr>
          <a:lstStyle/>
          <a:p>
            <a:pPr marL="914400" marR="0" indent="-457200">
              <a:lnSpc>
                <a:spcPct val="150000"/>
              </a:lnSpc>
              <a:spcBef>
                <a:spcPts val="0"/>
              </a:spcBef>
              <a:spcAft>
                <a:spcPts val="800"/>
              </a:spcAft>
              <a:buFont typeface="+mj-lt"/>
              <a:buAutoNum type="arabicPeriod"/>
            </a:pPr>
            <a:r>
              <a:rPr lang="en-US" sz="2800" dirty="0">
                <a:latin typeface="Arial" panose="020B0604020202020204" pitchFamily="34" charset="0"/>
                <a:ea typeface="Calibri" panose="020F0502020204030204" pitchFamily="34" charset="0"/>
                <a:cs typeface="Times New Roman" panose="02020603050405020304" pitchFamily="18" charset="0"/>
              </a:rPr>
              <a:t>Extracting and Cleaning &amp; Organizing Data</a:t>
            </a:r>
          </a:p>
          <a:p>
            <a:pPr marL="914400" marR="0" indent="-457200">
              <a:lnSpc>
                <a:spcPct val="150000"/>
              </a:lnSpc>
              <a:spcBef>
                <a:spcPts val="0"/>
              </a:spcBef>
              <a:spcAft>
                <a:spcPts val="800"/>
              </a:spcAft>
              <a:buFont typeface="+mj-lt"/>
              <a:buAutoNum type="arabicPeriod"/>
            </a:pPr>
            <a:r>
              <a:rPr lang="en-US" sz="2800" dirty="0">
                <a:effectLst/>
                <a:latin typeface="Arial" panose="020B0604020202020204" pitchFamily="34" charset="0"/>
                <a:ea typeface="Calibri" panose="020F0502020204030204" pitchFamily="34" charset="0"/>
                <a:cs typeface="Times New Roman" panose="02020603050405020304" pitchFamily="18" charset="0"/>
              </a:rPr>
              <a:t>Exploratory Data Analysis</a:t>
            </a:r>
          </a:p>
          <a:p>
            <a:pPr marL="914400" marR="0" indent="-457200">
              <a:lnSpc>
                <a:spcPct val="150000"/>
              </a:lnSpc>
              <a:spcBef>
                <a:spcPts val="0"/>
              </a:spcBef>
              <a:spcAft>
                <a:spcPts val="800"/>
              </a:spcAft>
              <a:buFont typeface="+mj-lt"/>
              <a:buAutoNum type="arabicPeriod"/>
            </a:pPr>
            <a:r>
              <a:rPr lang="en-US" sz="2800" dirty="0">
                <a:latin typeface="Arial" panose="020B0604020202020204" pitchFamily="34" charset="0"/>
                <a:ea typeface="Calibri" panose="020F0502020204030204" pitchFamily="34" charset="0"/>
                <a:cs typeface="Times New Roman" panose="02020603050405020304" pitchFamily="18" charset="0"/>
              </a:rPr>
              <a:t>Modeling</a:t>
            </a:r>
          </a:p>
          <a:p>
            <a:pPr marL="914400" marR="0" indent="-457200">
              <a:lnSpc>
                <a:spcPct val="150000"/>
              </a:lnSpc>
              <a:spcBef>
                <a:spcPts val="0"/>
              </a:spcBef>
              <a:spcAft>
                <a:spcPts val="800"/>
              </a:spcAft>
              <a:buFont typeface="+mj-lt"/>
              <a:buAutoNum type="arabicPeriod"/>
            </a:pPr>
            <a:r>
              <a:rPr lang="en-US" sz="2800" dirty="0">
                <a:effectLst/>
                <a:latin typeface="Arial" panose="020B0604020202020204" pitchFamily="34" charset="0"/>
                <a:ea typeface="Calibri" panose="020F0502020204030204" pitchFamily="34" charset="0"/>
                <a:cs typeface="Times New Roman" panose="02020603050405020304" pitchFamily="18" charset="0"/>
              </a:rPr>
              <a:t>Ev</a:t>
            </a:r>
            <a:r>
              <a:rPr lang="en-US" sz="2800" dirty="0">
                <a:latin typeface="Arial" panose="020B0604020202020204" pitchFamily="34" charset="0"/>
                <a:ea typeface="Calibri" panose="020F0502020204030204" pitchFamily="34" charset="0"/>
                <a:cs typeface="Times New Roman" panose="02020603050405020304" pitchFamily="18" charset="0"/>
              </a:rPr>
              <a:t>aluation &amp; Testing</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50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l" rtl="0">
              <a:lnSpc>
                <a:spcPct val="150000"/>
              </a:lnSpc>
              <a:spcBef>
                <a:spcPts val="0"/>
              </a:spcBef>
              <a:spcAft>
                <a:spcPts val="0"/>
              </a:spcAft>
              <a:buFont typeface="Arial" panose="020B0604020202020204" pitchFamily="34" charset="0"/>
              <a:buChar char="•"/>
            </a:pPr>
            <a:endParaRPr sz="4400" dirty="0">
              <a:solidFill>
                <a:srgbClr val="0D0D0D"/>
              </a:solidFill>
              <a:highlight>
                <a:srgbClr val="FFFFFF"/>
              </a:highlight>
              <a:latin typeface="Calibri"/>
              <a:ea typeface="Calibri"/>
              <a:cs typeface="Calibri"/>
              <a:sym typeface="Calibri"/>
            </a:endParaRPr>
          </a:p>
        </p:txBody>
      </p:sp>
    </p:spTree>
    <p:extLst>
      <p:ext uri="{BB962C8B-B14F-4D97-AF65-F5344CB8AC3E}">
        <p14:creationId xmlns:p14="http://schemas.microsoft.com/office/powerpoint/2010/main" val="1263088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1" name="Google Shape;101;g2cbc16d843f_1_27"/>
          <p:cNvSpPr txBox="1"/>
          <p:nvPr/>
        </p:nvSpPr>
        <p:spPr>
          <a:xfrm>
            <a:off x="286424" y="443875"/>
            <a:ext cx="11603175" cy="867130"/>
          </a:xfrm>
          <a:prstGeom prst="rect">
            <a:avLst/>
          </a:prstGeom>
          <a:noFill/>
          <a:ln>
            <a:noFill/>
          </a:ln>
        </p:spPr>
        <p:txBody>
          <a:bodyPr spcFirstLastPara="1" wrap="square" lIns="91425" tIns="91425" rIns="91425" bIns="91425" anchor="t" anchorCtr="0">
            <a:spAutoFit/>
          </a:bodyPr>
          <a:lstStyle/>
          <a:p>
            <a:pPr marL="457200" lvl="0" indent="0" algn="ctr" rtl="0">
              <a:lnSpc>
                <a:spcPct val="91283"/>
              </a:lnSpc>
              <a:spcBef>
                <a:spcPts val="600"/>
              </a:spcBef>
              <a:spcAft>
                <a:spcPts val="900"/>
              </a:spcAft>
              <a:buNone/>
            </a:pPr>
            <a:r>
              <a:rPr lang="en-US" sz="3500" b="1" dirty="0">
                <a:solidFill>
                  <a:schemeClr val="dk1"/>
                </a:solidFill>
                <a:highlight>
                  <a:schemeClr val="lt1"/>
                </a:highlight>
                <a:latin typeface="Calibri"/>
                <a:ea typeface="Calibri"/>
                <a:cs typeface="Calibri"/>
                <a:sym typeface="Calibri"/>
              </a:rPr>
              <a:t>Highlights of Results</a:t>
            </a:r>
            <a:endParaRPr sz="3500" b="1" dirty="0">
              <a:solidFill>
                <a:schemeClr val="dk1"/>
              </a:solidFill>
              <a:highlight>
                <a:schemeClr val="lt1"/>
              </a:highlight>
              <a:latin typeface="Calibri"/>
              <a:ea typeface="Calibri"/>
              <a:cs typeface="Calibri"/>
              <a:sym typeface="Calibri"/>
            </a:endParaRPr>
          </a:p>
        </p:txBody>
      </p:sp>
      <p:sp>
        <p:nvSpPr>
          <p:cNvPr id="2" name="Google Shape;109;g26e2bfaee8c_0_0">
            <a:extLst>
              <a:ext uri="{FF2B5EF4-FFF2-40B4-BE49-F238E27FC236}">
                <a16:creationId xmlns:a16="http://schemas.microsoft.com/office/drawing/2014/main" id="{0615AE24-33BB-9AFF-5541-411D4942102C}"/>
              </a:ext>
            </a:extLst>
          </p:cNvPr>
          <p:cNvSpPr txBox="1"/>
          <p:nvPr/>
        </p:nvSpPr>
        <p:spPr>
          <a:xfrm>
            <a:off x="413250" y="1311004"/>
            <a:ext cx="11365500" cy="4892847"/>
          </a:xfrm>
          <a:prstGeom prst="rect">
            <a:avLst/>
          </a:prstGeom>
          <a:noFill/>
          <a:ln>
            <a:noFill/>
          </a:ln>
        </p:spPr>
        <p:txBody>
          <a:bodyPr spcFirstLastPara="1" wrap="square" lIns="91425" tIns="91425" rIns="91425" bIns="91425" anchor="t" anchorCtr="0">
            <a:noAutofit/>
          </a:bodyPr>
          <a:lstStyle/>
          <a:p>
            <a:pPr marL="342900" marR="0" lvl="0" indent="-342900">
              <a:lnSpc>
                <a:spcPct val="150000"/>
              </a:lnSpc>
              <a:spcBef>
                <a:spcPts val="0"/>
              </a:spcBef>
              <a:spcAft>
                <a:spcPts val="0"/>
              </a:spcAft>
              <a:buFont typeface="Calibri" panose="020F0502020204030204" pitchFamily="34" charset="0"/>
              <a:buChar char="-"/>
            </a:pPr>
            <a:r>
              <a:rPr lang="en-US" sz="2400" dirty="0">
                <a:effectLst/>
                <a:latin typeface="Arial" panose="020B0604020202020204" pitchFamily="34" charset="0"/>
                <a:ea typeface="Calibri" panose="020F0502020204030204" pitchFamily="34" charset="0"/>
                <a:cs typeface="Times New Roman" panose="02020603050405020304" pitchFamily="18" charset="0"/>
              </a:rPr>
              <a:t>The accuracy and precision of the model decrease with the increase of the nos. of neighbors (k). </a:t>
            </a:r>
          </a:p>
          <a:p>
            <a:pPr marL="342900" marR="0" lvl="0" indent="-342900">
              <a:lnSpc>
                <a:spcPct val="150000"/>
              </a:lnSpc>
              <a:spcBef>
                <a:spcPts val="0"/>
              </a:spcBef>
              <a:spcAft>
                <a:spcPts val="0"/>
              </a:spcAft>
              <a:buFont typeface="Calibri" panose="020F0502020204030204" pitchFamily="34" charset="0"/>
              <a:buChar char="-"/>
            </a:pPr>
            <a:r>
              <a:rPr lang="en-US" sz="2400" dirty="0">
                <a:effectLst/>
                <a:latin typeface="Arial" panose="020B0604020202020204" pitchFamily="34" charset="0"/>
                <a:ea typeface="Calibri" panose="020F0502020204030204" pitchFamily="34" charset="0"/>
                <a:cs typeface="Times New Roman" panose="02020603050405020304" pitchFamily="18" charset="0"/>
              </a:rPr>
              <a:t>The best accuracy and precision are achieved with k = 1 </a:t>
            </a:r>
          </a:p>
          <a:p>
            <a:pPr marL="342900" marR="0" lvl="0" indent="-342900">
              <a:lnSpc>
                <a:spcPct val="150000"/>
              </a:lnSpc>
              <a:spcBef>
                <a:spcPts val="0"/>
              </a:spcBef>
              <a:spcAft>
                <a:spcPts val="0"/>
              </a:spcAft>
              <a:buFont typeface="Calibri" panose="020F0502020204030204" pitchFamily="34" charset="0"/>
              <a:buChar char="-"/>
            </a:pPr>
            <a:r>
              <a:rPr lang="en-US" sz="2400" dirty="0">
                <a:effectLst/>
                <a:latin typeface="Arial" panose="020B0604020202020204" pitchFamily="34" charset="0"/>
                <a:ea typeface="Calibri" panose="020F0502020204030204" pitchFamily="34" charset="0"/>
                <a:cs typeface="Times New Roman" panose="02020603050405020304" pitchFamily="18" charset="0"/>
              </a:rPr>
              <a:t>With the dataset used in this experiment, the best result is achieved with the “Ball Tree” algorithm.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Calibri" panose="020F0502020204030204" pitchFamily="34" charset="0"/>
              <a:buChar char="-"/>
            </a:pPr>
            <a:r>
              <a:rPr lang="en-US" sz="2400" dirty="0">
                <a:effectLst/>
                <a:latin typeface="Arial" panose="020B0604020202020204" pitchFamily="34" charset="0"/>
                <a:ea typeface="Calibri" panose="020F0502020204030204" pitchFamily="34" charset="0"/>
                <a:cs typeface="Times New Roman" panose="02020603050405020304" pitchFamily="18" charset="0"/>
              </a:rPr>
              <a:t>In general, the accuracy and precision of the model is poor.  </a:t>
            </a:r>
            <a:endParaRPr sz="5400" dirty="0">
              <a:solidFill>
                <a:srgbClr val="0D0D0D"/>
              </a:solidFill>
              <a:highlight>
                <a:srgbClr val="FFFFFF"/>
              </a:highlight>
              <a:latin typeface="Calibri"/>
              <a:ea typeface="Calibri"/>
              <a:cs typeface="Calibri"/>
              <a:sym typeface="Calibri"/>
            </a:endParaRPr>
          </a:p>
        </p:txBody>
      </p:sp>
    </p:spTree>
    <p:extLst>
      <p:ext uri="{BB962C8B-B14F-4D97-AF65-F5344CB8AC3E}">
        <p14:creationId xmlns:p14="http://schemas.microsoft.com/office/powerpoint/2010/main" val="279823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1" name="Google Shape;101;g2cbc16d843f_1_27"/>
          <p:cNvSpPr txBox="1"/>
          <p:nvPr/>
        </p:nvSpPr>
        <p:spPr>
          <a:xfrm>
            <a:off x="286424" y="443875"/>
            <a:ext cx="11603175" cy="867130"/>
          </a:xfrm>
          <a:prstGeom prst="rect">
            <a:avLst/>
          </a:prstGeom>
          <a:noFill/>
          <a:ln>
            <a:noFill/>
          </a:ln>
        </p:spPr>
        <p:txBody>
          <a:bodyPr spcFirstLastPara="1" wrap="square" lIns="91425" tIns="91425" rIns="91425" bIns="91425" anchor="t" anchorCtr="0">
            <a:spAutoFit/>
          </a:bodyPr>
          <a:lstStyle/>
          <a:p>
            <a:pPr marL="457200" lvl="0" indent="0" algn="ctr" rtl="0">
              <a:lnSpc>
                <a:spcPct val="91283"/>
              </a:lnSpc>
              <a:spcBef>
                <a:spcPts val="600"/>
              </a:spcBef>
              <a:spcAft>
                <a:spcPts val="900"/>
              </a:spcAft>
              <a:buNone/>
            </a:pPr>
            <a:r>
              <a:rPr lang="en-US" sz="3500" b="1" dirty="0">
                <a:solidFill>
                  <a:schemeClr val="dk1"/>
                </a:solidFill>
                <a:highlight>
                  <a:schemeClr val="lt1"/>
                </a:highlight>
                <a:latin typeface="Calibri"/>
                <a:ea typeface="Calibri"/>
                <a:cs typeface="Calibri"/>
                <a:sym typeface="Calibri"/>
              </a:rPr>
              <a:t>Challenges </a:t>
            </a:r>
            <a:endParaRPr sz="3500" b="1" dirty="0">
              <a:solidFill>
                <a:schemeClr val="dk1"/>
              </a:solidFill>
              <a:highlight>
                <a:schemeClr val="lt1"/>
              </a:highlight>
              <a:latin typeface="Calibri"/>
              <a:ea typeface="Calibri"/>
              <a:cs typeface="Calibri"/>
              <a:sym typeface="Calibri"/>
            </a:endParaRPr>
          </a:p>
        </p:txBody>
      </p:sp>
      <p:sp>
        <p:nvSpPr>
          <p:cNvPr id="2" name="Google Shape;109;g26e2bfaee8c_0_0">
            <a:extLst>
              <a:ext uri="{FF2B5EF4-FFF2-40B4-BE49-F238E27FC236}">
                <a16:creationId xmlns:a16="http://schemas.microsoft.com/office/drawing/2014/main" id="{0615AE24-33BB-9AFF-5541-411D4942102C}"/>
              </a:ext>
            </a:extLst>
          </p:cNvPr>
          <p:cNvSpPr txBox="1"/>
          <p:nvPr/>
        </p:nvSpPr>
        <p:spPr>
          <a:xfrm>
            <a:off x="413250" y="1311004"/>
            <a:ext cx="11365500" cy="4892847"/>
          </a:xfrm>
          <a:prstGeom prst="rect">
            <a:avLst/>
          </a:prstGeom>
          <a:noFill/>
          <a:ln>
            <a:noFill/>
          </a:ln>
        </p:spPr>
        <p:txBody>
          <a:bodyPr spcFirstLastPara="1" wrap="square" lIns="91425" tIns="91425" rIns="91425" bIns="91425" anchor="t" anchorCtr="0">
            <a:noAutofit/>
          </a:bodyPr>
          <a:lstStyle/>
          <a:p>
            <a:pPr marL="342900" marR="0" lvl="0" indent="-342900">
              <a:lnSpc>
                <a:spcPct val="150000"/>
              </a:lnSpc>
              <a:spcBef>
                <a:spcPts val="0"/>
              </a:spcBef>
              <a:spcAft>
                <a:spcPts val="0"/>
              </a:spcAft>
              <a:buFont typeface="Calibri" panose="020F0502020204030204" pitchFamily="34" charset="0"/>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Categorical data is hard to handle.  That needs transformation to binary representation</a:t>
            </a:r>
          </a:p>
          <a:p>
            <a:pPr marL="342900" marR="0" lvl="0" indent="-342900">
              <a:lnSpc>
                <a:spcPct val="150000"/>
              </a:lnSpc>
              <a:spcBef>
                <a:spcPts val="0"/>
              </a:spcBef>
              <a:spcAft>
                <a:spcPts val="0"/>
              </a:spcAft>
              <a:buFont typeface="Calibri" panose="020F0502020204030204" pitchFamily="34" charset="0"/>
              <a:buChar char="-"/>
            </a:pPr>
            <a:r>
              <a:rPr lang="en-US" sz="3200" dirty="0">
                <a:latin typeface="Calibri" panose="020F0502020204030204" pitchFamily="34" charset="0"/>
                <a:ea typeface="Calibri" panose="020F0502020204030204" pitchFamily="34" charset="0"/>
                <a:cs typeface="Times New Roman" panose="02020603050405020304" pitchFamily="18" charset="0"/>
              </a:rPr>
              <a:t>Too many independent variables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93354558"/>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699</Words>
  <Application>Microsoft Office PowerPoint</Application>
  <PresentationFormat>Widescreen</PresentationFormat>
  <Paragraphs>66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SAURABH SHRIRAMWAR</dc:creator>
  <cp:lastModifiedBy>nayan patel</cp:lastModifiedBy>
  <cp:revision>16</cp:revision>
  <dcterms:created xsi:type="dcterms:W3CDTF">2022-03-15T07:25:51Z</dcterms:created>
  <dcterms:modified xsi:type="dcterms:W3CDTF">2024-04-22T19:47:00Z</dcterms:modified>
</cp:coreProperties>
</file>